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2" r:id="rId6"/>
    <p:sldId id="261" r:id="rId7"/>
    <p:sldId id="267" r:id="rId8"/>
    <p:sldId id="264" r:id="rId9"/>
    <p:sldId id="265" r:id="rId10"/>
    <p:sldId id="266" r:id="rId11"/>
    <p:sldId id="272" r:id="rId12"/>
  </p:sldIdLst>
  <p:sldSz cx="18288000" cy="10287000"/>
  <p:notesSz cx="6858000" cy="9144000"/>
  <p:embeddedFontLst>
    <p:embeddedFont>
      <p:font typeface="Algerian" panose="04020705040A02060702" pitchFamily="82" charset="0"/>
      <p:regular r:id="rId13"/>
    </p:embeddedFont>
    <p:embeddedFont>
      <p:font typeface="Bodoni MT" panose="02070603080606020203" pitchFamily="18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Inter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66CCFF"/>
    <a:srgbClr val="D8D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B7E59-DA3B-4DB4-BEEC-F67E403C87AB}" v="68" dt="2025-11-16T16:28:57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22" autoAdjust="0"/>
  </p:normalViewPr>
  <p:slideViewPr>
    <p:cSldViewPr>
      <p:cViewPr>
        <p:scale>
          <a:sx n="50" d="100"/>
          <a:sy n="50" d="100"/>
        </p:scale>
        <p:origin x="1085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FFACE5-227C-398C-7653-828D010CA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6865" y="0"/>
            <a:ext cx="8857020" cy="11120859"/>
            <a:chOff x="0" y="0"/>
            <a:chExt cx="799377" cy="1003697"/>
          </a:xfrm>
        </p:grpSpPr>
        <p:sp>
          <p:nvSpPr>
            <p:cNvPr id="3" name="Freeform 3"/>
            <p:cNvSpPr/>
            <p:nvPr/>
          </p:nvSpPr>
          <p:spPr>
            <a:xfrm rot="6000">
              <a:off x="-875" y="-697"/>
              <a:ext cx="801128" cy="1005090"/>
            </a:xfrm>
            <a:custGeom>
              <a:avLst/>
              <a:gdLst/>
              <a:ahLst/>
              <a:cxnLst/>
              <a:rect l="l" t="t" r="r" b="b"/>
              <a:pathLst>
                <a:path w="801128" h="1005090">
                  <a:moveTo>
                    <a:pt x="0" y="1395"/>
                  </a:moveTo>
                  <a:lnTo>
                    <a:pt x="799376" y="0"/>
                  </a:lnTo>
                  <a:lnTo>
                    <a:pt x="801128" y="1003695"/>
                  </a:lnTo>
                  <a:lnTo>
                    <a:pt x="1751" y="1005091"/>
                  </a:lnTo>
                  <a:close/>
                </a:path>
              </a:pathLst>
            </a:custGeom>
            <a:blipFill>
              <a:blip r:embed="rId2"/>
              <a:stretch>
                <a:fillRect l="-38705" r="-53504" b="-1225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345124" y="142875"/>
            <a:ext cx="8625749" cy="10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800"/>
              </a:lnSpc>
              <a:spcBef>
                <a:spcPct val="0"/>
              </a:spcBef>
            </a:pPr>
            <a:r>
              <a:rPr lang="en-US" sz="7800" b="1" spc="-585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17280685" y="2990765"/>
            <a:ext cx="918468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00"/>
              </a:lnSpc>
              <a:spcBef>
                <a:spcPct val="0"/>
              </a:spcBef>
            </a:pPr>
            <a:r>
              <a:rPr lang="en-US" sz="1700" b="1" spc="-12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265" y="1682093"/>
            <a:ext cx="10585378" cy="857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MODERN CITIES STRUGGLE WITH:</a:t>
            </a:r>
          </a:p>
          <a:p>
            <a:pPr algn="l">
              <a:lnSpc>
                <a:spcPts val="4784"/>
              </a:lnSpc>
            </a:pPr>
            <a:endParaRPr lang="en-US" sz="3709" spc="-204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800797" lvl="1" indent="-400398" algn="l">
              <a:lnSpc>
                <a:spcPts val="4784"/>
              </a:lnSpc>
              <a:buFont typeface="Arial"/>
              <a:buChar char="•"/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Overflowing street bins</a:t>
            </a:r>
          </a:p>
          <a:p>
            <a:pPr algn="l">
              <a:lnSpc>
                <a:spcPts val="4784"/>
              </a:lnSpc>
            </a:pPr>
            <a:endParaRPr lang="en-US" sz="3709" spc="-204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800797" lvl="1" indent="-400398" algn="l">
              <a:lnSpc>
                <a:spcPts val="4784"/>
              </a:lnSpc>
              <a:buFont typeface="Arial"/>
              <a:buChar char="•"/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Irregular waste collection</a:t>
            </a:r>
          </a:p>
          <a:p>
            <a:pPr algn="l">
              <a:lnSpc>
                <a:spcPts val="4784"/>
              </a:lnSpc>
            </a:pPr>
            <a:endParaRPr lang="en-US" sz="3709" spc="-204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800797" lvl="1" indent="-400398" algn="l">
              <a:lnSpc>
                <a:spcPts val="4784"/>
              </a:lnSpc>
              <a:buFont typeface="Arial"/>
              <a:buChar char="•"/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Lack of real-time monitoring</a:t>
            </a:r>
          </a:p>
          <a:p>
            <a:pPr algn="l">
              <a:lnSpc>
                <a:spcPts val="4784"/>
              </a:lnSpc>
            </a:pPr>
            <a:endParaRPr lang="en-US" sz="3709" spc="-204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800797" lvl="1" indent="-400398" algn="l">
              <a:lnSpc>
                <a:spcPts val="4784"/>
              </a:lnSpc>
              <a:buFont typeface="Arial"/>
              <a:buChar char="•"/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IoT solution eliminates:</a:t>
            </a:r>
          </a:p>
          <a:p>
            <a:pPr algn="just">
              <a:lnSpc>
                <a:spcPts val="4784"/>
              </a:lnSpc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manual checking</a:t>
            </a:r>
          </a:p>
          <a:p>
            <a:pPr algn="l">
              <a:lnSpc>
                <a:spcPts val="4784"/>
              </a:lnSpc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enables intelligent  waste management</a:t>
            </a:r>
          </a:p>
          <a:p>
            <a:pPr algn="l">
              <a:lnSpc>
                <a:spcPts val="4784"/>
              </a:lnSpc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using automation, sensors, and</a:t>
            </a:r>
          </a:p>
          <a:p>
            <a:pPr algn="l">
              <a:lnSpc>
                <a:spcPts val="4784"/>
              </a:lnSpc>
            </a:pPr>
            <a:r>
              <a:rPr lang="en-US" sz="3709" spc="-204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cloud technology.</a:t>
            </a:r>
          </a:p>
          <a:p>
            <a:pPr algn="l">
              <a:lnSpc>
                <a:spcPts val="4784"/>
              </a:lnSpc>
            </a:pPr>
            <a:endParaRPr lang="en-US" sz="3709" spc="-204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66DEC0DC-B25F-8292-9D9E-A2636AD407CB}"/>
              </a:ext>
            </a:extLst>
          </p:cNvPr>
          <p:cNvSpPr/>
          <p:nvPr/>
        </p:nvSpPr>
        <p:spPr>
          <a:xfrm>
            <a:off x="1143000" y="7353300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DE7E8A67-AA6C-A710-3922-B2962C6CF3ED}"/>
              </a:ext>
            </a:extLst>
          </p:cNvPr>
          <p:cNvSpPr/>
          <p:nvPr/>
        </p:nvSpPr>
        <p:spPr>
          <a:xfrm>
            <a:off x="1131470" y="7942476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61936B22-23A3-03EC-FCE7-22EBA3DBDDB3}"/>
              </a:ext>
            </a:extLst>
          </p:cNvPr>
          <p:cNvSpPr/>
          <p:nvPr/>
        </p:nvSpPr>
        <p:spPr>
          <a:xfrm>
            <a:off x="1131470" y="8604907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43566" y="2648371"/>
            <a:ext cx="4619756" cy="461975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197" r="-2519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972968" y="1028700"/>
            <a:ext cx="3769591" cy="376959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00" r="-2500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106231" y="6845988"/>
            <a:ext cx="2542438" cy="254243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r="-2500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85800" y="3238500"/>
            <a:ext cx="11343522" cy="7461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/>
              <a:t>Inefficient Collection</a:t>
            </a:r>
          </a:p>
          <a:p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/>
              <a:t>Manual garbage monitoring leads to unnecessary trips to empty bins or missed overflowing ones, wasting fuel and time.</a:t>
            </a:r>
          </a:p>
          <a:p>
            <a:endParaRPr lang="en-IN" sz="3200" dirty="0"/>
          </a:p>
          <a:p>
            <a:r>
              <a:rPr lang="en-IN" sz="3200" b="1" dirty="0"/>
              <a:t>Overflowing Bins</a:t>
            </a:r>
          </a:p>
          <a:p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/>
              <a:t>Unmonitored bins overflow, creating public inconvenience, unpleasant </a:t>
            </a:r>
            <a:r>
              <a:rPr lang="en-IN" sz="3200" dirty="0" err="1"/>
              <a:t>odors</a:t>
            </a:r>
            <a:r>
              <a:rPr lang="en-IN" sz="3200" dirty="0"/>
              <a:t>, and attracting pests.</a:t>
            </a:r>
          </a:p>
          <a:p>
            <a:endParaRPr lang="en-IN" sz="3200" dirty="0"/>
          </a:p>
          <a:p>
            <a:r>
              <a:rPr lang="en-IN" sz="3200" b="1" dirty="0"/>
              <a:t>Environmental Risks</a:t>
            </a:r>
          </a:p>
          <a:p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/>
              <a:t>Spilled waste and hazardous gas emissions from decomposing trash pose significant health and environmental risks.</a:t>
            </a:r>
          </a:p>
          <a:p>
            <a:pPr algn="just">
              <a:lnSpc>
                <a:spcPts val="4901"/>
              </a:lnSpc>
            </a:pPr>
            <a:endParaRPr lang="en-US" sz="3200" u="none" strike="noStrike" spc="-36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57200" y="1485900"/>
            <a:ext cx="109664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8000" b="1" spc="-6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CDF3B-8AEF-C6E9-68DE-29FB8B7D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236F34-E810-2277-CD9B-A7BC85DE724A}"/>
              </a:ext>
            </a:extLst>
          </p:cNvPr>
          <p:cNvSpPr/>
          <p:nvPr/>
        </p:nvSpPr>
        <p:spPr>
          <a:xfrm>
            <a:off x="1600199" y="2418735"/>
            <a:ext cx="4316369" cy="452596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Real-time Detection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Continuously detect the real-time fill level and hazardous gas status of every bin in the city.</a:t>
            </a:r>
          </a:p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C7220A-678F-F467-9440-0FE8FCF1A80A}"/>
              </a:ext>
            </a:extLst>
          </p:cNvPr>
          <p:cNvSpPr/>
          <p:nvPr/>
        </p:nvSpPr>
        <p:spPr>
          <a:xfrm>
            <a:off x="6973524" y="2418735"/>
            <a:ext cx="4316369" cy="452596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Instant Alerts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114430-2EDD-0E30-1615-7F8BBE44BE73}"/>
              </a:ext>
            </a:extLst>
          </p:cNvPr>
          <p:cNvSpPr/>
          <p:nvPr/>
        </p:nvSpPr>
        <p:spPr>
          <a:xfrm>
            <a:off x="12573000" y="2418735"/>
            <a:ext cx="4468769" cy="452596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Optimized Planning</a:t>
            </a:r>
          </a:p>
          <a:p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 unnecessary trips, save fuel, and support dynamic, optimized route planning for collection vehicles.</a:t>
            </a:r>
          </a:p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5054B-7E21-8968-5306-619840FDBB5A}"/>
              </a:ext>
            </a:extLst>
          </p:cNvPr>
          <p:cNvSpPr txBox="1"/>
          <p:nvPr/>
        </p:nvSpPr>
        <p:spPr>
          <a:xfrm>
            <a:off x="6985815" y="3989338"/>
            <a:ext cx="43163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Send instant alerts to the central dashboard and collection teams when a bin is almost full or detects high gas levels.</a:t>
            </a:r>
          </a:p>
          <a:p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1B841F-3194-8A59-0BC2-F74488718E6A}"/>
              </a:ext>
            </a:extLst>
          </p:cNvPr>
          <p:cNvSpPr txBox="1"/>
          <p:nvPr/>
        </p:nvSpPr>
        <p:spPr>
          <a:xfrm>
            <a:off x="990600" y="495300"/>
            <a:ext cx="39399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86925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876300"/>
            <a:ext cx="70866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9"/>
              </a:lnSpc>
              <a:spcBef>
                <a:spcPct val="0"/>
              </a:spcBef>
            </a:pPr>
            <a:r>
              <a:rPr lang="en-US" sz="5400" b="1" spc="-274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WORKING PRINCIPLE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66900" y="2324100"/>
            <a:ext cx="14554200" cy="6461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/>
              <a:t>Sensor sends an ultrasonic wave to detect the distance to the trash.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/>
              <a:t>Microcontroller calculates the fill percentage (e.g., 85% full).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/>
              <a:t>Data packet (Fill %, Gas, GPS) is sent to the cloud at set intervals.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/>
              <a:t>Dashboard shows bin status: </a:t>
            </a:r>
            <a:r>
              <a:rPr lang="en-US" sz="4000" b="1" dirty="0"/>
              <a:t>Green</a:t>
            </a:r>
            <a:r>
              <a:rPr lang="en-US" sz="4000" dirty="0"/>
              <a:t> (Empty), </a:t>
            </a:r>
            <a:r>
              <a:rPr lang="en-US" sz="4000" b="1" dirty="0"/>
              <a:t>Yellow</a:t>
            </a:r>
            <a:r>
              <a:rPr lang="en-US" sz="4000" dirty="0"/>
              <a:t> (Half-full), </a:t>
            </a:r>
            <a:r>
              <a:rPr lang="en-US" sz="4000" b="1" dirty="0"/>
              <a:t>Red</a:t>
            </a:r>
            <a:r>
              <a:rPr lang="en-US" sz="4000" dirty="0"/>
              <a:t> (Full).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/>
              <a:t>Alerts are sent for 'Red' bins, and collectors attend only to full bin</a:t>
            </a:r>
          </a:p>
          <a:p>
            <a:pPr marL="690881" lvl="1" indent="-345440" algn="l">
              <a:lnSpc>
                <a:spcPts val="4128"/>
              </a:lnSpc>
              <a:buFont typeface="Arial"/>
              <a:buChar char="•"/>
            </a:pPr>
            <a:endParaRPr lang="en-US" sz="3200" spc="-176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1111" y="2476500"/>
            <a:ext cx="16025778" cy="515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5564" lvl="1" indent="-372782" algn="l">
              <a:lnSpc>
                <a:spcPts val="4454"/>
              </a:lnSpc>
              <a:buFont typeface="Arial"/>
              <a:buChar char="•"/>
            </a:pPr>
            <a:r>
              <a:rPr lang="en-US" sz="3453" spc="-189" dirty="0">
                <a:solidFill>
                  <a:srgbClr val="0B5476"/>
                </a:solidFill>
                <a:latin typeface="Inter"/>
                <a:ea typeface="Inter"/>
                <a:cs typeface="Inter"/>
                <a:sym typeface="Inter"/>
              </a:rPr>
              <a:t>ULTRASONIC SENSORS FOR FILL DETECTION,GAS SENSORS FOR HAZARDOUS EMISSION.</a:t>
            </a:r>
          </a:p>
          <a:p>
            <a:pPr marL="745564" lvl="1" indent="-372782" algn="l">
              <a:lnSpc>
                <a:spcPts val="4454"/>
              </a:lnSpc>
              <a:buFont typeface="Arial"/>
              <a:buChar char="•"/>
            </a:pPr>
            <a:endParaRPr lang="en-US" sz="3453" spc="-189" dirty="0">
              <a:solidFill>
                <a:srgbClr val="0B54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45564" lvl="1" indent="-372782" algn="l">
              <a:lnSpc>
                <a:spcPts val="4454"/>
              </a:lnSpc>
              <a:buFont typeface="Arial"/>
              <a:buChar char="•"/>
            </a:pPr>
            <a:r>
              <a:rPr lang="en-US" sz="3453" spc="-189" dirty="0">
                <a:solidFill>
                  <a:srgbClr val="0B5476"/>
                </a:solidFill>
                <a:latin typeface="Inter"/>
                <a:ea typeface="Inter"/>
                <a:cs typeface="Inter"/>
                <a:sym typeface="Inter"/>
              </a:rPr>
              <a:t>MICROCONTROLLER (E.G., ESP8266/ESP32/Arduino uno) WITH WI-FI OR GSM</a:t>
            </a:r>
          </a:p>
          <a:p>
            <a:pPr marL="745564" lvl="1" indent="-372782" algn="l">
              <a:lnSpc>
                <a:spcPts val="4454"/>
              </a:lnSpc>
              <a:buFont typeface="Arial"/>
              <a:buChar char="•"/>
            </a:pPr>
            <a:endParaRPr lang="en-US" sz="3453" spc="-189" dirty="0">
              <a:solidFill>
                <a:srgbClr val="0B54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45564" lvl="1" indent="-372782" algn="l">
              <a:lnSpc>
                <a:spcPts val="4454"/>
              </a:lnSpc>
              <a:buFont typeface="Arial"/>
              <a:buChar char="•"/>
            </a:pPr>
            <a:r>
              <a:rPr lang="en-US" sz="3453" spc="-189" dirty="0">
                <a:solidFill>
                  <a:srgbClr val="0B5476"/>
                </a:solidFill>
                <a:latin typeface="Inter"/>
                <a:ea typeface="Inter"/>
                <a:cs typeface="Inter"/>
                <a:sym typeface="Inter"/>
              </a:rPr>
              <a:t>GPS MODULE FOR GEO-TAGGING BIN LOCATIONS.</a:t>
            </a:r>
          </a:p>
          <a:p>
            <a:pPr marL="745564" lvl="1" indent="-372782" algn="l">
              <a:lnSpc>
                <a:spcPts val="4454"/>
              </a:lnSpc>
              <a:buFont typeface="Arial"/>
              <a:buChar char="•"/>
            </a:pPr>
            <a:endParaRPr lang="en-US" sz="3453" spc="-189" dirty="0">
              <a:solidFill>
                <a:srgbClr val="0B54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45564" lvl="1" indent="-372782" algn="l">
              <a:lnSpc>
                <a:spcPts val="4454"/>
              </a:lnSpc>
              <a:buFont typeface="Arial"/>
              <a:buChar char="•"/>
            </a:pPr>
            <a:r>
              <a:rPr lang="en-US" sz="3453" spc="-189" dirty="0">
                <a:solidFill>
                  <a:srgbClr val="0B5476"/>
                </a:solidFill>
                <a:latin typeface="Inter"/>
                <a:ea typeface="Inter"/>
                <a:cs typeface="Inter"/>
                <a:sym typeface="Inter"/>
              </a:rPr>
              <a:t>CLOUD SERVER/WEB DASHBOARD FOR DATA AGGREGATION AND VISUALIZATION.</a:t>
            </a:r>
          </a:p>
        </p:txBody>
      </p:sp>
      <p:sp>
        <p:nvSpPr>
          <p:cNvPr id="3" name="Freeform 3"/>
          <p:cNvSpPr/>
          <p:nvPr/>
        </p:nvSpPr>
        <p:spPr>
          <a:xfrm>
            <a:off x="1451944" y="7876027"/>
            <a:ext cx="15938461" cy="1523881"/>
          </a:xfrm>
          <a:custGeom>
            <a:avLst/>
            <a:gdLst/>
            <a:ahLst/>
            <a:cxnLst/>
            <a:rect l="l" t="t" r="r" b="b"/>
            <a:pathLst>
              <a:path w="15938461" h="1523881">
                <a:moveTo>
                  <a:pt x="0" y="0"/>
                </a:moveTo>
                <a:lnTo>
                  <a:pt x="15938461" y="0"/>
                </a:lnTo>
                <a:lnTo>
                  <a:pt x="15938461" y="1523881"/>
                </a:lnTo>
                <a:lnTo>
                  <a:pt x="0" y="1523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84" b="-1366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533400" y="887092"/>
            <a:ext cx="10495466" cy="8852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1"/>
              </a:lnSpc>
              <a:spcBef>
                <a:spcPct val="0"/>
              </a:spcBef>
            </a:pPr>
            <a:r>
              <a:rPr lang="en-US" sz="5753" b="1" spc="-316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loud server&#10;&#10;AI-generated content may be incorrect.">
            <a:extLst>
              <a:ext uri="{FF2B5EF4-FFF2-40B4-BE49-F238E27FC236}">
                <a16:creationId xmlns:a16="http://schemas.microsoft.com/office/drawing/2014/main" id="{6DAE023B-5236-831A-929E-D4D9C544B7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3A6616-32C8-8EB7-1D76-434C930E9A71}"/>
              </a:ext>
            </a:extLst>
          </p:cNvPr>
          <p:cNvSpPr txBox="1"/>
          <p:nvPr/>
        </p:nvSpPr>
        <p:spPr>
          <a:xfrm>
            <a:off x="685800" y="342900"/>
            <a:ext cx="71966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/>
              <a:t>End to End Data Flow:</a:t>
            </a:r>
          </a:p>
        </p:txBody>
      </p:sp>
    </p:spTree>
    <p:extLst>
      <p:ext uri="{BB962C8B-B14F-4D97-AF65-F5344CB8AC3E}">
        <p14:creationId xmlns:p14="http://schemas.microsoft.com/office/powerpoint/2010/main" val="107631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928874" cy="10287000"/>
            <a:chOff x="0" y="0"/>
            <a:chExt cx="1562667" cy="2711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2667" cy="2711333"/>
            </a:xfrm>
            <a:custGeom>
              <a:avLst/>
              <a:gdLst/>
              <a:ahLst/>
              <a:cxnLst/>
              <a:rect l="l" t="t" r="r" b="b"/>
              <a:pathLst>
                <a:path w="1562667" h="2711333">
                  <a:moveTo>
                    <a:pt x="0" y="0"/>
                  </a:moveTo>
                  <a:lnTo>
                    <a:pt x="1562667" y="0"/>
                  </a:lnTo>
                  <a:lnTo>
                    <a:pt x="1562667" y="2711333"/>
                  </a:lnTo>
                  <a:lnTo>
                    <a:pt x="0" y="2711333"/>
                  </a:lnTo>
                  <a:close/>
                </a:path>
              </a:pathLst>
            </a:custGeom>
            <a:blipFill>
              <a:blip r:embed="rId2"/>
              <a:stretch>
                <a:fillRect l="-67514" r="-92420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624917" y="2099096"/>
            <a:ext cx="12357086" cy="638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just">
              <a:lnSpc>
                <a:spcPts val="4644"/>
              </a:lnSpc>
              <a:buFont typeface="Arial"/>
              <a:buChar char="•"/>
            </a:pPr>
            <a:r>
              <a:rPr lang="en-US" sz="3600" spc="-19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Live Status Of All City Bins With Color-coded Capacity Indication .</a:t>
            </a:r>
          </a:p>
          <a:p>
            <a:pPr algn="l">
              <a:lnSpc>
                <a:spcPts val="4644"/>
              </a:lnSpc>
            </a:pPr>
            <a:endParaRPr lang="en-US" sz="3600" spc="-19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77240" lvl="1" indent="-388620" algn="just">
              <a:lnSpc>
                <a:spcPts val="4644"/>
              </a:lnSpc>
              <a:buFont typeface="Arial"/>
              <a:buChar char="•"/>
            </a:pPr>
            <a:r>
              <a:rPr lang="en-US" sz="3600" spc="-19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Route Optimization For Collection Teams, Reducing Fuel Consumption And Trip Frequency.</a:t>
            </a:r>
          </a:p>
          <a:p>
            <a:pPr algn="l">
              <a:lnSpc>
                <a:spcPts val="4644"/>
              </a:lnSpc>
            </a:pPr>
            <a:endParaRPr lang="en-US" sz="3600" spc="-19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77240" lvl="1" indent="-388620" algn="just">
              <a:lnSpc>
                <a:spcPts val="4644"/>
              </a:lnSpc>
              <a:buFont typeface="Arial"/>
              <a:buChar char="•"/>
            </a:pPr>
            <a:r>
              <a:rPr lang="en-US" sz="3600" spc="-19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Early Alerts For Hazardous Emissions, Preventing Health Risks.</a:t>
            </a:r>
          </a:p>
          <a:p>
            <a:pPr algn="l">
              <a:lnSpc>
                <a:spcPts val="4644"/>
              </a:lnSpc>
            </a:pPr>
            <a:endParaRPr lang="en-US" sz="3600" spc="-19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77240" lvl="1" indent="-388620" algn="just">
              <a:lnSpc>
                <a:spcPts val="4644"/>
              </a:lnSpc>
              <a:buFont typeface="Arial"/>
              <a:buChar char="•"/>
            </a:pPr>
            <a:r>
              <a:rPr lang="en-US" sz="3600" spc="-19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Public Access To Bin Status And Nearest Available Bin Through Mobile Apps.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92249" y="264414"/>
            <a:ext cx="8709751" cy="764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92"/>
              </a:lnSpc>
            </a:pPr>
            <a:r>
              <a:rPr lang="en-US" sz="4800" b="1" spc="-264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FEATURES AND BENEFITS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71500"/>
            <a:ext cx="15193010" cy="86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8"/>
              </a:lnSpc>
              <a:spcBef>
                <a:spcPct val="0"/>
              </a:spcBef>
            </a:pPr>
            <a:r>
              <a:rPr lang="en-US" sz="5223" spc="-287" dirty="0">
                <a:solidFill>
                  <a:srgbClr val="211F1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223" b="1" spc="-287" dirty="0">
                <a:solidFill>
                  <a:srgbClr val="211F1F"/>
                </a:solidFill>
                <a:latin typeface="Inter Bold"/>
                <a:ea typeface="Inter Bold"/>
                <a:cs typeface="Inter Bold"/>
                <a:sym typeface="Inter Bold"/>
              </a:rPr>
              <a:t>KEY INNOVATIONS:</a:t>
            </a:r>
          </a:p>
          <a:p>
            <a:pPr algn="l">
              <a:lnSpc>
                <a:spcPts val="6075"/>
              </a:lnSpc>
              <a:spcBef>
                <a:spcPct val="0"/>
              </a:spcBef>
            </a:pPr>
            <a:endParaRPr lang="en-US" sz="4800" b="1" spc="-287" dirty="0">
              <a:solidFill>
                <a:srgbClr val="211F1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497593" lvl="1" algn="l">
              <a:lnSpc>
                <a:spcPts val="5946"/>
              </a:lnSpc>
            </a:pPr>
            <a:r>
              <a:rPr lang="en-US" sz="4400" spc="-253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End-to-end </a:t>
            </a:r>
            <a:r>
              <a:rPr lang="en-US" sz="4400" spc="-253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Iot</a:t>
            </a:r>
            <a:r>
              <a:rPr lang="en-US" sz="4400" spc="-253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Automation</a:t>
            </a:r>
          </a:p>
          <a:p>
            <a:pPr marL="497593" lvl="1" algn="l">
              <a:lnSpc>
                <a:spcPts val="5946"/>
              </a:lnSpc>
            </a:pPr>
            <a:r>
              <a:rPr lang="en-US" sz="4400" spc="-253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Real-time Monitoring &amp; Instant Alerts</a:t>
            </a:r>
          </a:p>
          <a:p>
            <a:pPr marL="497593" lvl="1" algn="l">
              <a:lnSpc>
                <a:spcPts val="5946"/>
              </a:lnSpc>
            </a:pPr>
            <a:r>
              <a:rPr lang="en-US" sz="4400" spc="-253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Scalable And Low-cost Deployment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  <a:endParaRPr lang="en-US" sz="4609" spc="-253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6738"/>
              </a:lnSpc>
              <a:spcBef>
                <a:spcPct val="0"/>
              </a:spcBef>
            </a:pPr>
            <a:r>
              <a:rPr lang="en-US" sz="5223" spc="-28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223" b="1" spc="-28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IMPACT:</a:t>
            </a:r>
          </a:p>
          <a:p>
            <a:pPr algn="l">
              <a:lnSpc>
                <a:spcPts val="6480"/>
              </a:lnSpc>
              <a:spcBef>
                <a:spcPct val="0"/>
              </a:spcBef>
            </a:pPr>
            <a:endParaRPr lang="en-US" sz="5223" b="1" spc="-287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497593" lvl="1" algn="l">
              <a:lnSpc>
                <a:spcPts val="5946"/>
              </a:lnSpc>
            </a:pPr>
            <a:r>
              <a:rPr lang="en-US" sz="4609" spc="-253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Reduced Manpower Hours And Fuel</a:t>
            </a:r>
          </a:p>
          <a:p>
            <a:pPr marL="497593" lvl="1" algn="l">
              <a:lnSpc>
                <a:spcPts val="5946"/>
              </a:lnSpc>
            </a:pPr>
            <a:r>
              <a:rPr lang="en-US" sz="4609" spc="-253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Data-driven Route Optimization</a:t>
            </a:r>
          </a:p>
          <a:p>
            <a:pPr marL="497593" lvl="1" algn="l">
              <a:lnSpc>
                <a:spcPts val="5946"/>
              </a:lnSpc>
            </a:pPr>
            <a:r>
              <a:rPr lang="en-US" sz="4609" spc="-253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Cleaner Streets And Better Public Health</a:t>
            </a:r>
          </a:p>
        </p:txBody>
      </p:sp>
      <p:sp>
        <p:nvSpPr>
          <p:cNvPr id="6" name="Arrow: Notched Right 5">
            <a:extLst>
              <a:ext uri="{FF2B5EF4-FFF2-40B4-BE49-F238E27FC236}">
                <a16:creationId xmlns:a16="http://schemas.microsoft.com/office/drawing/2014/main" id="{9DB8AB63-A5AC-9674-5DD2-BC2F5C2599A7}"/>
              </a:ext>
            </a:extLst>
          </p:cNvPr>
          <p:cNvSpPr/>
          <p:nvPr/>
        </p:nvSpPr>
        <p:spPr>
          <a:xfrm>
            <a:off x="423088" y="3265730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8DA8B46A-D418-99D1-260B-B675B38C932F}"/>
              </a:ext>
            </a:extLst>
          </p:cNvPr>
          <p:cNvSpPr/>
          <p:nvPr/>
        </p:nvSpPr>
        <p:spPr>
          <a:xfrm>
            <a:off x="423088" y="7077246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716399E3-03BF-E83E-818B-579626130D0C}"/>
              </a:ext>
            </a:extLst>
          </p:cNvPr>
          <p:cNvSpPr/>
          <p:nvPr/>
        </p:nvSpPr>
        <p:spPr>
          <a:xfrm>
            <a:off x="446123" y="7923503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B6A99903-CAAA-67B3-48C6-7B4673B520C1}"/>
              </a:ext>
            </a:extLst>
          </p:cNvPr>
          <p:cNvSpPr/>
          <p:nvPr/>
        </p:nvSpPr>
        <p:spPr>
          <a:xfrm>
            <a:off x="469158" y="8696566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842B18-5E0D-B590-D466-5F966BD33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" r="8181"/>
          <a:stretch>
            <a:fillRect/>
          </a:stretch>
        </p:blipFill>
        <p:spPr>
          <a:xfrm>
            <a:off x="11353800" y="8602"/>
            <a:ext cx="8534400" cy="10392698"/>
          </a:xfrm>
          <a:prstGeom prst="rect">
            <a:avLst/>
          </a:prstGeom>
        </p:spPr>
      </p:pic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C9E19D27-238E-16A6-3C95-C60DF70C034C}"/>
              </a:ext>
            </a:extLst>
          </p:cNvPr>
          <p:cNvSpPr/>
          <p:nvPr/>
        </p:nvSpPr>
        <p:spPr>
          <a:xfrm>
            <a:off x="423088" y="3912008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Notched Right 15">
            <a:extLst>
              <a:ext uri="{FF2B5EF4-FFF2-40B4-BE49-F238E27FC236}">
                <a16:creationId xmlns:a16="http://schemas.microsoft.com/office/drawing/2014/main" id="{B0B69851-FDA7-D183-5769-D523FDC2FF1B}"/>
              </a:ext>
            </a:extLst>
          </p:cNvPr>
          <p:cNvSpPr/>
          <p:nvPr/>
        </p:nvSpPr>
        <p:spPr>
          <a:xfrm>
            <a:off x="423088" y="2411569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114300"/>
            <a:ext cx="17373600" cy="9952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199" b="1" spc="-285" dirty="0">
                <a:solidFill>
                  <a:srgbClr val="363632"/>
                </a:solidFill>
                <a:latin typeface="Inter Bold"/>
                <a:ea typeface="Inter Bold"/>
                <a:cs typeface="Inter Bold"/>
                <a:sym typeface="Inter Bold"/>
              </a:rPr>
              <a:t>CONCLUSION:</a:t>
            </a:r>
          </a:p>
          <a:p>
            <a:pPr algn="l">
              <a:lnSpc>
                <a:spcPts val="6192"/>
              </a:lnSpc>
            </a:pPr>
            <a:endParaRPr lang="en-US" sz="5199" b="1" spc="-285" dirty="0">
              <a:solidFill>
                <a:srgbClr val="36363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485776" lvl="1" algn="l">
              <a:lnSpc>
                <a:spcPts val="5805"/>
              </a:lnSpc>
            </a:pPr>
            <a:r>
              <a:rPr lang="en-US" sz="4500" spc="-24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Improves Waste Collection Efficiency.</a:t>
            </a:r>
          </a:p>
          <a:p>
            <a:pPr marL="485776" lvl="1" algn="l">
              <a:lnSpc>
                <a:spcPts val="5805"/>
              </a:lnSpc>
            </a:pPr>
            <a:r>
              <a:rPr lang="en-US" sz="4500" spc="-24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Reduces Manual </a:t>
            </a:r>
            <a:r>
              <a:rPr lang="en-US" sz="4500" spc="-247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Labour</a:t>
            </a:r>
            <a:r>
              <a:rPr lang="en-US" sz="4500" spc="-24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Prevents Overflows.</a:t>
            </a:r>
          </a:p>
          <a:p>
            <a:pPr marL="485776" lvl="1" algn="l">
              <a:lnSpc>
                <a:spcPts val="5805"/>
              </a:lnSpc>
            </a:pPr>
            <a:r>
              <a:rPr lang="en-US" sz="4500" spc="-24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Supports Smart City Goals.</a:t>
            </a:r>
          </a:p>
          <a:p>
            <a:pPr algn="l">
              <a:lnSpc>
                <a:spcPts val="5805"/>
              </a:lnSpc>
            </a:pPr>
            <a:endParaRPr lang="en-US" sz="4500" spc="-24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6707"/>
              </a:lnSpc>
            </a:pPr>
            <a:r>
              <a:rPr lang="en-US" sz="5199" b="1" spc="-285" dirty="0">
                <a:solidFill>
                  <a:srgbClr val="363632"/>
                </a:solidFill>
                <a:latin typeface="Inter Bold"/>
                <a:ea typeface="Inter Bold"/>
                <a:cs typeface="Inter Bold"/>
                <a:sym typeface="Inter Bold"/>
              </a:rPr>
              <a:t>FUTURE ENHANCEMENTS:</a:t>
            </a:r>
          </a:p>
          <a:p>
            <a:pPr algn="l">
              <a:lnSpc>
                <a:spcPts val="6192"/>
              </a:lnSpc>
            </a:pPr>
            <a:endParaRPr lang="en-US" sz="5199" b="1" spc="-285" dirty="0">
              <a:solidFill>
                <a:srgbClr val="36363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5805"/>
              </a:lnSpc>
            </a:pPr>
            <a:r>
              <a:rPr lang="en-US" sz="4500" spc="-24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500" i="1" spc="-247" dirty="0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AI-BASED ROUTE OPTIMIZATION</a:t>
            </a:r>
          </a:p>
          <a:p>
            <a:pPr algn="l">
              <a:lnSpc>
                <a:spcPts val="5805"/>
              </a:lnSpc>
            </a:pPr>
            <a:endParaRPr lang="en-US" sz="4500" i="1" spc="-247" dirty="0">
              <a:solidFill>
                <a:srgbClr val="000000"/>
              </a:solidFill>
              <a:latin typeface="Inter Italics"/>
              <a:ea typeface="Inter Italics"/>
              <a:cs typeface="Inter Italics"/>
              <a:sym typeface="Inter Italics"/>
            </a:endParaRPr>
          </a:p>
          <a:p>
            <a:pPr marL="485776" lvl="1" algn="l">
              <a:lnSpc>
                <a:spcPts val="5805"/>
              </a:lnSpc>
            </a:pPr>
            <a:r>
              <a:rPr lang="en-US" sz="4500" spc="-24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SOLAR-POWERED UNITS.</a:t>
            </a:r>
          </a:p>
          <a:p>
            <a:pPr marL="485776" lvl="1" algn="l">
              <a:lnSpc>
                <a:spcPts val="5805"/>
              </a:lnSpc>
            </a:pPr>
            <a:r>
              <a:rPr lang="en-US" sz="4500" spc="-24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MOBILE APP FOR COLLECTORS, MULTI-SENSOR SUPPORT.</a:t>
            </a:r>
          </a:p>
          <a:p>
            <a:pPr algn="l">
              <a:lnSpc>
                <a:spcPts val="5805"/>
              </a:lnSpc>
            </a:pPr>
            <a:endParaRPr lang="en-US" sz="4500" spc="-24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Arrow: Notched Right 2">
            <a:extLst>
              <a:ext uri="{FF2B5EF4-FFF2-40B4-BE49-F238E27FC236}">
                <a16:creationId xmlns:a16="http://schemas.microsoft.com/office/drawing/2014/main" id="{F8D78D87-B978-E029-4A1B-AAC722FFA8D4}"/>
              </a:ext>
            </a:extLst>
          </p:cNvPr>
          <p:cNvSpPr/>
          <p:nvPr/>
        </p:nvSpPr>
        <p:spPr>
          <a:xfrm>
            <a:off x="1295400" y="3433916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Notched Right 3">
            <a:extLst>
              <a:ext uri="{FF2B5EF4-FFF2-40B4-BE49-F238E27FC236}">
                <a16:creationId xmlns:a16="http://schemas.microsoft.com/office/drawing/2014/main" id="{B112A943-383C-1072-B4DE-82F9DFCAE685}"/>
              </a:ext>
            </a:extLst>
          </p:cNvPr>
          <p:cNvSpPr/>
          <p:nvPr/>
        </p:nvSpPr>
        <p:spPr>
          <a:xfrm>
            <a:off x="1299393" y="2705100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Notched Right 4">
            <a:extLst>
              <a:ext uri="{FF2B5EF4-FFF2-40B4-BE49-F238E27FC236}">
                <a16:creationId xmlns:a16="http://schemas.microsoft.com/office/drawing/2014/main" id="{8652DAFB-0FB7-9E13-6BF5-4B71D87DAC1B}"/>
              </a:ext>
            </a:extLst>
          </p:cNvPr>
          <p:cNvSpPr/>
          <p:nvPr/>
        </p:nvSpPr>
        <p:spPr>
          <a:xfrm>
            <a:off x="1295400" y="1943100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Notched Right 5">
            <a:extLst>
              <a:ext uri="{FF2B5EF4-FFF2-40B4-BE49-F238E27FC236}">
                <a16:creationId xmlns:a16="http://schemas.microsoft.com/office/drawing/2014/main" id="{A8F0B107-D3D4-5AF1-F6C6-EC0BA4E4586A}"/>
              </a:ext>
            </a:extLst>
          </p:cNvPr>
          <p:cNvSpPr/>
          <p:nvPr/>
        </p:nvSpPr>
        <p:spPr>
          <a:xfrm>
            <a:off x="1295400" y="8061105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9F1840EB-7144-B365-272D-6C38DE3FA5D0}"/>
              </a:ext>
            </a:extLst>
          </p:cNvPr>
          <p:cNvSpPr/>
          <p:nvPr/>
        </p:nvSpPr>
        <p:spPr>
          <a:xfrm>
            <a:off x="1295400" y="8789921"/>
            <a:ext cx="691328" cy="228600"/>
          </a:xfrm>
          <a:prstGeom prst="notch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047981-7F57-9385-7457-0F04D22AC88E}"/>
              </a:ext>
            </a:extLst>
          </p:cNvPr>
          <p:cNvSpPr txBox="1"/>
          <p:nvPr/>
        </p:nvSpPr>
        <p:spPr>
          <a:xfrm>
            <a:off x="5418335" y="3573840"/>
            <a:ext cx="7451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6DF1D-A41A-E399-09E6-B6EDC49F05BD}"/>
              </a:ext>
            </a:extLst>
          </p:cNvPr>
          <p:cNvSpPr txBox="1"/>
          <p:nvPr/>
        </p:nvSpPr>
        <p:spPr>
          <a:xfrm>
            <a:off x="10820400" y="5143500"/>
            <a:ext cx="77724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Done By:</a:t>
            </a:r>
          </a:p>
          <a:p>
            <a:pPr marR="133350" algn="ctr">
              <a:lnSpc>
                <a:spcPct val="100000"/>
              </a:lnSpc>
              <a:spcBef>
                <a:spcPts val="2395"/>
              </a:spcBef>
            </a:pPr>
            <a:r>
              <a:rPr lang="en-IN" sz="2800" spc="215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      SUJITHRA.K-</a:t>
            </a:r>
            <a:r>
              <a:rPr lang="en-IN" sz="2800" spc="-155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 </a:t>
            </a:r>
            <a:r>
              <a:rPr lang="en-IN" sz="2800" spc="35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710023106035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Bodoni MT" panose="02070603080606020203" pitchFamily="18" charset="0"/>
              <a:cs typeface="Trebuchet MS"/>
            </a:endParaRPr>
          </a:p>
          <a:p>
            <a:pPr marR="133350" algn="ctr">
              <a:lnSpc>
                <a:spcPct val="100000"/>
              </a:lnSpc>
              <a:spcBef>
                <a:spcPts val="2395"/>
              </a:spcBef>
            </a:pPr>
            <a:r>
              <a:rPr lang="en-IN" sz="2800" spc="195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   JAISRI.B </a:t>
            </a:r>
            <a:r>
              <a:rPr lang="en-IN" sz="2800" spc="-155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 </a:t>
            </a:r>
            <a:r>
              <a:rPr lang="en-IN" sz="2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-  </a:t>
            </a:r>
            <a:r>
              <a:rPr lang="en-IN" sz="2800" spc="35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710023106036 </a:t>
            </a:r>
          </a:p>
          <a:p>
            <a:pPr marL="12065" marR="5080" indent="-635" algn="ctr">
              <a:lnSpc>
                <a:spcPts val="6750"/>
              </a:lnSpc>
              <a:spcBef>
                <a:spcPts val="400"/>
              </a:spcBef>
            </a:pPr>
            <a:r>
              <a:rPr lang="en-IN" sz="2800" spc="37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       HEMANTHA.N-</a:t>
            </a:r>
            <a:r>
              <a:rPr lang="en-IN" sz="2800" spc="35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710023106037</a:t>
            </a:r>
          </a:p>
          <a:p>
            <a:pPr marL="12065" marR="5080" indent="-635" algn="ctr">
              <a:lnSpc>
                <a:spcPts val="6750"/>
              </a:lnSpc>
              <a:spcBef>
                <a:spcPts val="400"/>
              </a:spcBef>
            </a:pPr>
            <a:r>
              <a:rPr lang="en-IN" sz="2800" spc="35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   </a:t>
            </a:r>
            <a:r>
              <a:rPr lang="en-IN" sz="2800" spc="345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KESAVAN.S-</a:t>
            </a:r>
            <a:r>
              <a:rPr lang="en-IN" sz="2800" spc="350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rebuchet MS"/>
              </a:rPr>
              <a:t>710023106038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Bodoni MT" panose="02070603080606020203" pitchFamily="18" charset="0"/>
              <a:cs typeface="Trebuchet M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71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455</Words>
  <Application>Microsoft Office PowerPoint</Application>
  <PresentationFormat>Custom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Inter Italics</vt:lpstr>
      <vt:lpstr>Inter Bold</vt:lpstr>
      <vt:lpstr>Algerian</vt:lpstr>
      <vt:lpstr>Wingdings</vt:lpstr>
      <vt:lpstr>Arial</vt:lpstr>
      <vt:lpstr>Inter</vt:lpstr>
      <vt:lpstr>Bodoni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Travel To India Presentation</dc:title>
  <dc:creator>Kesavan S</dc:creator>
  <cp:lastModifiedBy>Kesavan S</cp:lastModifiedBy>
  <cp:revision>4</cp:revision>
  <dcterms:created xsi:type="dcterms:W3CDTF">2006-08-16T00:00:00Z</dcterms:created>
  <dcterms:modified xsi:type="dcterms:W3CDTF">2026-03-01T10:44:26Z</dcterms:modified>
  <dc:identifier>DAG4ydgkLs0</dc:identifier>
</cp:coreProperties>
</file>